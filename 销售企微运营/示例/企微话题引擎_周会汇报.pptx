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6949440" cy="23774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a:altLang="en-US">
                <a:solidFill>
                  <a:srgbClr val="262A33"/>
                </a:solidFill>
                <a:latin typeface="微软雅黑"/>
                <a:ea typeface="微软雅黑"/>
              </a:rPr>
              <a:t>用 AI 助力企微运营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a:altLang="en-US">
                <a:solidFill>
                  <a:srgbClr val="E60012"/>
                </a:solidFill>
                <a:latin typeface="微软雅黑"/>
                <a:ea typeface="微软雅黑"/>
              </a:rPr>
              <a:t>每周话题话术引擎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704088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a:altLang="en-US">
                <a:solidFill>
                  <a:srgbClr val="6B7078"/>
                </a:solidFill>
                <a:latin typeface="微软雅黑"/>
                <a:ea typeface="微软雅黑"/>
              </a:rPr>
              <a:t>每周一 5 分钟，拿到 5 条「可发、不尬、能挖商机」的企微话术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a:altLang="en-US">
                <a:solidFill>
                  <a:srgbClr val="262A33"/>
                </a:solidFill>
                <a:latin typeface="微软雅黑"/>
                <a:ea typeface="微软雅黑"/>
              </a:rPr>
              <a:t>1 个引擎自动跑　·　销售只复制粘贴　·　内容统一　·　红线自检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611880" cy="4297680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554480"/>
            <a:ext cx="3291840" cy="3657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a:altLang="en-US">
                <a:solidFill>
                  <a:srgbClr val="FFFFFF"/>
                </a:solidFill>
                <a:latin typeface="微软雅黑"/>
                <a:ea typeface="微软雅黑"/>
              </a:rPr>
              <a:t>中心化生产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a:altLang="en-US">
                <a:solidFill>
                  <a:srgbClr val="FFFFFF"/>
                </a:solidFill>
                <a:latin typeface="微软雅黑"/>
                <a:ea typeface="微软雅黑"/>
              </a:rPr>
              <a:t>+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000" b="1" a:altLang="en-US">
                <a:solidFill>
                  <a:srgbClr val="FFFFFF"/>
                </a:solidFill>
                <a:latin typeface="微软雅黑"/>
                <a:ea typeface="微软雅黑"/>
              </a:rPr>
              <a:t>全员分发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a:altLang="en-US">
                <a:solidFill>
                  <a:srgbClr val="FFFFFF"/>
                </a:solidFill>
                <a:latin typeface="微软雅黑"/>
                <a:ea typeface="微软雅黑"/>
              </a:rPr>
              <a:t>零部署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a:altLang="en-US">
                <a:solidFill>
                  <a:srgbClr val="FFFFFF"/>
                </a:solidFill>
                <a:latin typeface="微软雅黑"/>
                <a:ea typeface="微软雅黑"/>
              </a:rPr>
              <a:t>内容统一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a:altLang="en-US">
                <a:solidFill>
                  <a:srgbClr val="FFFFFF"/>
                </a:solidFill>
                <a:latin typeface="微软雅黑"/>
                <a:ea typeface="微软雅黑"/>
              </a:rPr>
              <a:t>每周自动产出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897880"/>
            <a:ext cx="10881360" cy="56692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515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a:altLang="en-US">
                <a:solidFill>
                  <a:srgbClr val="262A33"/>
                </a:solidFill>
                <a:latin typeface="微软雅黑"/>
                <a:ea typeface="微软雅黑"/>
              </a:rPr>
              <a:t>B2B 销售团队 · 企微运营提效 · 部门周会汇报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a:altLang="en-US">
                <a:solidFill>
                  <a:srgbClr val="FFFFFF"/>
                </a:solidFill>
                <a:latin typeface="微软雅黑"/>
                <a:ea typeface="微软雅黑"/>
              </a:rPr>
              <a:t>一图看清：痛点与解法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altLang="en-US">
                <a:solidFill>
                  <a:srgbClr val="FFFFFF"/>
                </a:solidFill>
                <a:latin typeface="微软雅黑"/>
                <a:ea typeface="微软雅黑"/>
              </a:rPr>
              <a:t>为什么做 · 怎么落地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49240" cy="5074920"/>
          </a:xfrm>
          <a:prstGeom prst="roundRect">
            <a:avLst/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349240" cy="548640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18488"/>
            <a:ext cx="5349240" cy="164592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49834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a:altLang="en-US">
                <a:solidFill>
                  <a:srgbClr val="FFFFFF"/>
                </a:solidFill>
                <a:latin typeface="微软雅黑"/>
                <a:ea typeface="微软雅黑"/>
              </a:rPr>
              <a:t>现在的痛点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39010"/>
            <a:ext cx="146304" cy="146304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4526280" cy="106299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a:altLang="en-US">
                <a:solidFill>
                  <a:srgbClr val="E60012"/>
                </a:solidFill>
                <a:latin typeface="微软雅黑"/>
                <a:ea typeface="微软雅黑"/>
              </a:rPr>
              <a:t>不知道发什么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262A33"/>
                </a:solidFill>
                <a:latin typeface="微软雅黑"/>
                <a:ea typeface="微软雅黑"/>
              </a:rPr>
              <a:t>群发通稿像骚扰，客户不回、关系变僵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202000"/>
            <a:ext cx="146304" cy="146304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0662"/>
            <a:ext cx="4526280" cy="106299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a:altLang="en-US">
                <a:solidFill>
                  <a:srgbClr val="E60012"/>
                </a:solidFill>
                <a:latin typeface="微软雅黑"/>
                <a:ea typeface="微软雅黑"/>
              </a:rPr>
              <a:t>素材散落各处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262A33"/>
                </a:solidFill>
                <a:latin typeface="微软雅黑"/>
                <a:ea typeface="微软雅黑"/>
              </a:rPr>
              <a:t>新闻、政策、补贴没人汇总成现成话术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264990"/>
            <a:ext cx="146304" cy="146304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73652"/>
            <a:ext cx="4526280" cy="106299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a:altLang="en-US">
                <a:solidFill>
                  <a:srgbClr val="E60012"/>
                </a:solidFill>
                <a:latin typeface="微软雅黑"/>
                <a:ea typeface="微软雅黑"/>
              </a:rPr>
              <a:t>部署推广很难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262A33"/>
                </a:solidFill>
                <a:latin typeface="微软雅黑"/>
                <a:ea typeface="微软雅黑"/>
              </a:rPr>
              <a:t>每人装 AI 工具，成本高、内容不统一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327980"/>
            <a:ext cx="146304" cy="146304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36642"/>
            <a:ext cx="4526280" cy="106299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a:altLang="en-US">
                <a:solidFill>
                  <a:srgbClr val="E60012"/>
                </a:solidFill>
                <a:latin typeface="微软雅黑"/>
                <a:ea typeface="微软雅黑"/>
              </a:rPr>
              <a:t>关怀变成减分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262A33"/>
                </a:solidFill>
                <a:latin typeface="微软雅黑"/>
                <a:ea typeface="微软雅黑"/>
              </a:rPr>
              <a:t>没话术、没承接，发了等于白发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1234440"/>
            <a:ext cx="5349240" cy="50749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82512" y="1234440"/>
            <a:ext cx="5349240" cy="548640"/>
          </a:xfrm>
          <a:prstGeom prst="roundRect">
            <a:avLst/>
          </a:prstGeom>
          <a:solidFill>
            <a:srgbClr val="2B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2512" y="1618488"/>
            <a:ext cx="5349240" cy="164592"/>
          </a:xfrm>
          <a:prstGeom prst="rect">
            <a:avLst/>
          </a:prstGeom>
          <a:solidFill>
            <a:srgbClr val="2B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1234440"/>
            <a:ext cx="49834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a:altLang="en-US">
                <a:solidFill>
                  <a:srgbClr val="FFFFFF"/>
                </a:solidFill>
                <a:latin typeface="微软雅黑"/>
                <a:ea typeface="微软雅黑"/>
              </a:rPr>
              <a:t>我们的解法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8544" y="2100742"/>
            <a:ext cx="146304" cy="146304"/>
          </a:xfrm>
          <a:prstGeom prst="roundRect">
            <a:avLst/>
          </a:prstGeom>
          <a:solidFill>
            <a:srgbClr val="2B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1947672"/>
            <a:ext cx="4526280" cy="8503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a:altLang="en-US">
                <a:solidFill>
                  <a:srgbClr val="2B57A0"/>
                </a:solidFill>
                <a:latin typeface="微软雅黑"/>
                <a:ea typeface="微软雅黑"/>
              </a:rPr>
              <a:t>一个引擎自动跑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262A33"/>
                </a:solidFill>
                <a:latin typeface="微软雅黑"/>
                <a:ea typeface="微软雅黑"/>
              </a:rPr>
              <a:t>每周一 09:00 联网抓取最新素材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8544" y="2951134"/>
            <a:ext cx="146304" cy="146304"/>
          </a:xfrm>
          <a:prstGeom prst="roundRect">
            <a:avLst/>
          </a:prstGeom>
          <a:solidFill>
            <a:srgbClr val="2B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2798064"/>
            <a:ext cx="4526280" cy="8503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a:altLang="en-US">
                <a:solidFill>
                  <a:srgbClr val="2B57A0"/>
                </a:solidFill>
                <a:latin typeface="微软雅黑"/>
                <a:ea typeface="微软雅黑"/>
              </a:rPr>
              <a:t>八类话题矩阵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262A33"/>
                </a:solidFill>
                <a:latin typeface="微软雅黑"/>
                <a:ea typeface="微软雅黑"/>
              </a:rPr>
              <a:t>筛 5 个话题，生成带完整话术卡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38544" y="3801526"/>
            <a:ext cx="146304" cy="146304"/>
          </a:xfrm>
          <a:prstGeom prst="roundRect">
            <a:avLst/>
          </a:prstGeom>
          <a:solidFill>
            <a:srgbClr val="2B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3648456"/>
            <a:ext cx="4526280" cy="8503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a:altLang="en-US">
                <a:solidFill>
                  <a:srgbClr val="2B57A0"/>
                </a:solidFill>
                <a:latin typeface="微软雅黑"/>
                <a:ea typeface="微软雅黑"/>
              </a:rPr>
              <a:t>销售零部署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262A33"/>
                </a:solidFill>
                <a:latin typeface="微软雅黑"/>
                <a:ea typeface="微软雅黑"/>
              </a:rPr>
              <a:t>只复制粘贴发企微，内容统一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38544" y="4651918"/>
            <a:ext cx="146304" cy="146304"/>
          </a:xfrm>
          <a:prstGeom prst="roundRect">
            <a:avLst/>
          </a:prstGeom>
          <a:solidFill>
            <a:srgbClr val="2B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4498848"/>
            <a:ext cx="4526280" cy="8503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a:altLang="en-US">
                <a:solidFill>
                  <a:srgbClr val="2B57A0"/>
                </a:solidFill>
                <a:latin typeface="微软雅黑"/>
                <a:ea typeface="微软雅黑"/>
              </a:rPr>
              <a:t>四条红线自检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262A33"/>
                </a:solidFill>
                <a:latin typeface="微软雅黑"/>
                <a:ea typeface="微软雅黑"/>
              </a:rPr>
              <a:t>不编造、不承诺价、单信息、可溯源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38544" y="5502310"/>
            <a:ext cx="146304" cy="146304"/>
          </a:xfrm>
          <a:prstGeom prst="roundRect">
            <a:avLst/>
          </a:prstGeom>
          <a:solidFill>
            <a:srgbClr val="2B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5349240"/>
            <a:ext cx="4526280" cy="8503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 a:altLang="en-US">
                <a:solidFill>
                  <a:srgbClr val="2B57A0"/>
                </a:solidFill>
                <a:latin typeface="微软雅黑"/>
                <a:ea typeface="微软雅黑"/>
              </a:rPr>
              <a:t>已经上线运行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262A33"/>
                </a:solidFill>
                <a:latin typeface="微软雅黑"/>
                <a:ea typeface="微软雅黑"/>
              </a:rPr>
              <a:t>自动化已建，本周实样已产出</a:t>
            </a:r>
          </a:p>
        </p:txBody>
      </p:sp>
      <p:sp>
        <p:nvSpPr>
          <p:cNvPr id="31" name="Oval 30"/>
          <p:cNvSpPr/>
          <p:nvPr/>
        </p:nvSpPr>
        <p:spPr>
          <a:xfrm>
            <a:off x="5779008" y="3611880"/>
            <a:ext cx="621792" cy="621792"/>
          </a:xfrm>
          <a:prstGeom prst="ellipse">
            <a:avLst/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9008" y="3611880"/>
            <a:ext cx="621792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a:altLang="en-US">
                <a:solidFill>
                  <a:srgbClr val="FFFF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a:altLang="en-US">
                <a:solidFill>
                  <a:srgbClr val="6B7078"/>
                </a:solidFill>
                <a:latin typeface="微软雅黑"/>
                <a:ea typeface="微软雅黑"/>
              </a:rPr>
              <a:t>企微每周话题话术引擎 · 部门周会汇报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73952"/>
            <a:ext cx="10972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a:altLang="en-US">
                <a:solidFill>
                  <a:srgbClr val="6B7078"/>
                </a:solidFill>
                <a:latin typeface="微软雅黑"/>
                <a:ea typeface="微软雅黑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a:altLang="en-US">
                <a:solidFill>
                  <a:srgbClr val="FFFFFF"/>
                </a:solidFill>
                <a:latin typeface="微软雅黑"/>
                <a:ea typeface="微软雅黑"/>
              </a:rPr>
              <a:t>从「关怀入口」到「商机承接」的完整链路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altLang="en-US">
                <a:solidFill>
                  <a:srgbClr val="FFFFFF"/>
                </a:solidFill>
                <a:latin typeface="微软雅黑"/>
                <a:ea typeface="微软雅黑"/>
              </a:rPr>
              <a:t>核心方法论 ①：话题 8 类矩阵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2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72"/>
                <a:gridCol w="2386584"/>
                <a:gridCol w="3456432"/>
                <a:gridCol w="2386584"/>
                <a:gridCol w="246888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6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76200" marR="63500" marT="25400" marB="25400" anchor="ctr">
                    <a:solidFill>
                      <a:srgbClr val="E60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话题类别</a:t>
                      </a:r>
                    </a:p>
                  </a:txBody>
                  <a:tcPr marL="76200" marR="63500" marT="25400" marB="25400" anchor="ctr">
                    <a:solidFill>
                      <a:srgbClr val="E60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发出目的</a:t>
                      </a:r>
                    </a:p>
                  </a:txBody>
                  <a:tcPr marL="76200" marR="63500" marT="25400" marB="25400" anchor="ctr">
                    <a:solidFill>
                      <a:srgbClr val="E60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公司衔接点</a:t>
                      </a:r>
                    </a:p>
                  </a:txBody>
                  <a:tcPr marL="76200" marR="63500" marT="25400" marB="25400" anchor="ctr">
                    <a:solidFill>
                      <a:srgbClr val="E60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承接的商机</a:t>
                      </a:r>
                    </a:p>
                  </a:txBody>
                  <a:tcPr marL="76200" marR="63500" marT="25400" marB="25400" anchor="ctr">
                    <a:solidFill>
                      <a:srgbClr val="E6001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6200" marR="63500" marT="25400" marB="25400" anchor="ctr">
                    <a:solidFill>
                      <a:srgbClr val="E60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公司好消息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证明实力、引入合作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新品 / 技术 / 全栈能力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产品切入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6200" marR="63500" marT="25400" marB="25400" anchor="ctr">
                    <a:solidFill>
                      <a:srgbClr val="2B57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行业趋势 / 政策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问需求、显专业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数字化 / AI 方案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数字化 · 算力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6200" marR="63500" marT="25400" marB="25400" anchor="ctr">
                    <a:solidFill>
                      <a:srgbClr val="0E8A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客户企业专属喜讯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恭喜、拉近关系（须真实）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扩产要设备跟上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扩产采购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6200" marR="63500" marT="25400" marB="25400" anchor="ctr">
                    <a:solidFill>
                      <a:srgbClr val="E07B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政策补贴 / 以旧换新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「有笔钱你能省」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批量换新 / 订阅式服务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批量换新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6200" marR="63500" marT="25400" marB="25400" anchor="ctr">
                    <a:solidFill>
                      <a:srgbClr val="6B4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实用干货 tips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立专家人设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可管理 / 安全 / 降本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长期信任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6200" marR="63500" marT="25400" marB="25400" anchor="ctr">
                    <a:solidFill>
                      <a:srgbClr val="1E7A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节日 / 节气 / 关怀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纯暖场、无压力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不推产品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维系关系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6200" marR="63500" marT="25400" marB="25400" anchor="ctr">
                    <a:solidFill>
                      <a:srgbClr val="C2186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公司活动 / 权益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直接转化钩子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活动 / 优惠 / 会员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报名 · 询价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a: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76200" marR="63500" marT="25400" marB="25400" anchor="ctr">
                    <a:solidFill>
                      <a:srgbClr val="3F51B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AI / 算力热点借势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蹭趋势、聊痛点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AI PC / 工作站 / 算力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a:altLang="en-US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工作站 · 算力</a:t>
                      </a:r>
                    </a:p>
                  </a:txBody>
                  <a:tcPr marL="76200" marR="63500" marT="25400" marB="254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a:altLang="en-US">
                <a:solidFill>
                  <a:srgbClr val="6B7078"/>
                </a:solidFill>
                <a:latin typeface="微软雅黑"/>
                <a:ea typeface="微软雅黑"/>
              </a:rPr>
              <a:t>企微每周话题话术引擎 · 部门周会汇报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972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a:altLang="en-US">
                <a:solidFill>
                  <a:srgbClr val="6B7078"/>
                </a:solidFill>
                <a:latin typeface="微软雅黑"/>
                <a:ea typeface="微软雅黑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a:altLang="en-US">
                <a:solidFill>
                  <a:srgbClr val="FFFFFF"/>
                </a:solidFill>
                <a:latin typeface="微软雅黑"/>
                <a:ea typeface="微软雅黑"/>
              </a:rPr>
              <a:t>五段式公式 + 四条红线 + 实样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altLang="en-US">
                <a:solidFill>
                  <a:srgbClr val="FFFFFF"/>
                </a:solidFill>
                <a:latin typeface="微软雅黑"/>
                <a:ea typeface="微软雅黑"/>
              </a:rPr>
              <a:t>核心方法论 ②：话术怎么写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74552" cy="713232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993392" cy="493776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993392" cy="49377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a:altLang="en-US">
                <a:solidFill>
                  <a:srgbClr val="FFFFFF"/>
                </a:solidFill>
                <a:latin typeface="微软雅黑"/>
                <a:ea typeface="微软雅黑"/>
              </a:rPr>
              <a:t>开场关怀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9192" y="1298448"/>
            <a:ext cx="1993392" cy="493776"/>
          </a:xfrm>
          <a:prstGeom prst="roundRect">
            <a:avLst/>
          </a:prstGeom>
          <a:solidFill>
            <a:srgbClr val="2B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298448"/>
            <a:ext cx="1993392" cy="49377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a:altLang="en-US">
                <a:solidFill>
                  <a:srgbClr val="FFFFFF"/>
                </a:solidFill>
                <a:latin typeface="微软雅黑"/>
                <a:ea typeface="微软雅黑"/>
              </a:rPr>
              <a:t>事件钩子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91456" y="1298448"/>
            <a:ext cx="1993392" cy="493776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1298448"/>
            <a:ext cx="1993392" cy="49377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a:altLang="en-US">
                <a:solidFill>
                  <a:srgbClr val="FFFFFF"/>
                </a:solidFill>
                <a:latin typeface="微软雅黑"/>
                <a:ea typeface="微软雅黑"/>
              </a:rPr>
              <a:t>公司衔接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298448"/>
            <a:ext cx="1993392" cy="493776"/>
          </a:xfrm>
          <a:prstGeom prst="roundRect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298448"/>
            <a:ext cx="1993392" cy="49377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a:altLang="en-US">
                <a:solidFill>
                  <a:srgbClr val="FFFFFF"/>
                </a:solidFill>
                <a:latin typeface="微软雅黑"/>
                <a:ea typeface="微软雅黑"/>
              </a:rPr>
              <a:t>价值锚点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298448"/>
            <a:ext cx="1993392" cy="493776"/>
          </a:xfrm>
          <a:prstGeom prst="round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298448"/>
            <a:ext cx="1993392" cy="49377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a:altLang="en-US">
                <a:solidFill>
                  <a:srgbClr val="FFFFFF"/>
                </a:solidFill>
                <a:latin typeface="微软雅黑"/>
                <a:ea typeface="微软雅黑"/>
              </a:rPr>
              <a:t>轻 CTA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548640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a:altLang="en-US">
                <a:solidFill>
                  <a:srgbClr val="262A33"/>
                </a:solidFill>
                <a:latin typeface="微软雅黑"/>
                <a:ea typeface="微软雅黑"/>
              </a:rPr>
              <a:t>五段拆解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5532120" cy="187451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500" b="1" a:altLang="en-US">
                <a:solidFill>
                  <a:srgbClr val="E60012"/>
                </a:solidFill>
                <a:latin typeface="微软雅黑"/>
                <a:ea typeface="微软雅黑"/>
              </a:rPr>
              <a:t>● </a:t>
            </a:r>
            <a:r>
              <a:rPr sz="1500" b="1" a:altLang="en-US">
                <a:solidFill>
                  <a:srgbClr val="262A33"/>
                </a:solidFill>
                <a:latin typeface="微软雅黑"/>
                <a:ea typeface="微软雅黑"/>
              </a:rPr>
              <a:t>开场关怀：</a:t>
            </a:r>
            <a:r>
              <a:rPr sz="1500" b="0" a:altLang="en-US">
                <a:solidFill>
                  <a:srgbClr val="262A33"/>
                </a:solidFill>
                <a:latin typeface="微软雅黑"/>
                <a:ea typeface="微软雅黑"/>
              </a:rPr>
              <a:t>称呼 + 一句人情味问候</a:t>
            </a:r>
          </a:p>
          <a:p>
            <a:pPr>
              <a:spcAft>
                <a:spcPts val="700"/>
              </a:spcAft>
            </a:pPr>
            <a:r>
              <a:rPr sz="1500" b="1" a:altLang="en-US">
                <a:solidFill>
                  <a:srgbClr val="2B57A0"/>
                </a:solidFill>
                <a:latin typeface="微软雅黑"/>
                <a:ea typeface="微软雅黑"/>
              </a:rPr>
              <a:t>● </a:t>
            </a:r>
            <a:r>
              <a:rPr sz="1500" b="1" a:altLang="en-US">
                <a:solidFill>
                  <a:srgbClr val="262A33"/>
                </a:solidFill>
                <a:latin typeface="微软雅黑"/>
                <a:ea typeface="微软雅黑"/>
              </a:rPr>
              <a:t>事件钩子：</a:t>
            </a:r>
            <a:r>
              <a:rPr sz="1500" b="0" a:altLang="en-US">
                <a:solidFill>
                  <a:srgbClr val="262A33"/>
                </a:solidFill>
                <a:latin typeface="微软雅黑"/>
                <a:ea typeface="微软雅黑"/>
              </a:rPr>
              <a:t>本周话题，带时效感（「刚」「最新」）</a:t>
            </a:r>
          </a:p>
          <a:p>
            <a:pPr>
              <a:spcAft>
                <a:spcPts val="700"/>
              </a:spcAft>
            </a:pPr>
            <a:r>
              <a:rPr sz="1500" b="1" a:altLang="en-US">
                <a:solidFill>
                  <a:srgbClr val="0E8A7D"/>
                </a:solidFill>
                <a:latin typeface="微软雅黑"/>
                <a:ea typeface="微软雅黑"/>
              </a:rPr>
              <a:t>● </a:t>
            </a:r>
            <a:r>
              <a:rPr sz="1500" b="1" a:altLang="en-US">
                <a:solidFill>
                  <a:srgbClr val="262A33"/>
                </a:solidFill>
                <a:latin typeface="微软雅黑"/>
                <a:ea typeface="微软雅黑"/>
              </a:rPr>
              <a:t>公司衔接：</a:t>
            </a:r>
            <a:r>
              <a:rPr sz="1500" b="0" a:altLang="en-US">
                <a:solidFill>
                  <a:srgbClr val="262A33"/>
                </a:solidFill>
                <a:latin typeface="微软雅黑"/>
                <a:ea typeface="微软雅黑"/>
              </a:rPr>
              <a:t>自然过渡到能力，不硬广</a:t>
            </a:r>
          </a:p>
          <a:p>
            <a:pPr>
              <a:spcAft>
                <a:spcPts val="700"/>
              </a:spcAft>
            </a:pPr>
            <a:r>
              <a:rPr sz="1500" b="1" a:altLang="en-US">
                <a:solidFill>
                  <a:srgbClr val="E07B12"/>
                </a:solidFill>
                <a:latin typeface="微软雅黑"/>
                <a:ea typeface="微软雅黑"/>
              </a:rPr>
              <a:t>● </a:t>
            </a:r>
            <a:r>
              <a:rPr sz="1500" b="1" a:altLang="en-US">
                <a:solidFill>
                  <a:srgbClr val="262A33"/>
                </a:solidFill>
                <a:latin typeface="微软雅黑"/>
                <a:ea typeface="微软雅黑"/>
              </a:rPr>
              <a:t>价值锚点：</a:t>
            </a:r>
            <a:r>
              <a:rPr sz="1500" b="0" a:altLang="en-US">
                <a:solidFill>
                  <a:srgbClr val="262A33"/>
                </a:solidFill>
                <a:latin typeface="微软雅黑"/>
                <a:ea typeface="微软雅黑"/>
              </a:rPr>
              <a:t>只推一个（TCO更省 / 数据不出厂）</a:t>
            </a:r>
          </a:p>
          <a:p>
            <a:pPr>
              <a:spcAft>
                <a:spcPts val="700"/>
              </a:spcAft>
            </a:pPr>
            <a:r>
              <a:rPr sz="1500" b="1" a:altLang="en-US">
                <a:solidFill>
                  <a:srgbClr val="1E7A3C"/>
                </a:solidFill>
                <a:latin typeface="微软雅黑"/>
                <a:ea typeface="微软雅黑"/>
              </a:rPr>
              <a:t>● </a:t>
            </a:r>
            <a:r>
              <a:rPr sz="1500" b="1" a:altLang="en-US">
                <a:solidFill>
                  <a:srgbClr val="262A33"/>
                </a:solidFill>
                <a:latin typeface="微软雅黑"/>
                <a:ea typeface="微软雅黑"/>
              </a:rPr>
              <a:t>轻 CTA：</a:t>
            </a:r>
            <a:r>
              <a:rPr sz="1500" b="0" a:altLang="en-US">
                <a:solidFill>
                  <a:srgbClr val="262A33"/>
                </a:solidFill>
                <a:latin typeface="微软雅黑"/>
                <a:ea typeface="微软雅黑"/>
              </a:rPr>
              <a:t>低压力下一步（「发份资料参考?」）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548640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a:altLang="en-US">
                <a:solidFill>
                  <a:srgbClr val="E60012"/>
                </a:solidFill>
                <a:latin typeface="微软雅黑"/>
                <a:ea typeface="微软雅黑"/>
              </a:rPr>
              <a:t>四条红线（每次必过）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53212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>
              <a:spcAft>
                <a:spcPts val="600"/>
              </a:spcAft>
            </a:pPr>
            <a:r>
              <a:rPr sz="1500" b="1" a:altLang="en-US">
                <a:solidFill>
                  <a:srgbClr val="E60012"/>
                </a:solidFill>
                <a:latin typeface="微软雅黑"/>
                <a:ea typeface="微软雅黑"/>
              </a:rPr>
              <a:t>● </a:t>
            </a:r>
            <a:r>
              <a:rPr sz="1500" b="0" a:altLang="en-US">
                <a:solidFill>
                  <a:srgbClr val="262A33"/>
                </a:solidFill>
                <a:latin typeface="微软雅黑"/>
                <a:ea typeface="微软雅黑"/>
              </a:rPr>
              <a:t>不编造客户事件：专属喜讯须真实可核实来源</a:t>
            </a:r>
          </a:p>
          <a:p>
            <a:pPr>
              <a:spcAft>
                <a:spcPts val="600"/>
              </a:spcAft>
            </a:pPr>
            <a:r>
              <a:rPr sz="1500" b="1" a:altLang="en-US">
                <a:solidFill>
                  <a:srgbClr val="E60012"/>
                </a:solidFill>
                <a:latin typeface="微软雅黑"/>
                <a:ea typeface="微软雅黑"/>
              </a:rPr>
              <a:t>● </a:t>
            </a:r>
            <a:r>
              <a:rPr sz="1500" b="0" a:altLang="en-US">
                <a:solidFill>
                  <a:srgbClr val="262A33"/>
                </a:solidFill>
                <a:latin typeface="微软雅黑"/>
                <a:ea typeface="微软雅黑"/>
              </a:rPr>
              <a:t>不承诺具体价格：只说「有批量方案 / 专属价」</a:t>
            </a:r>
          </a:p>
          <a:p>
            <a:pPr>
              <a:spcAft>
                <a:spcPts val="600"/>
              </a:spcAft>
            </a:pPr>
            <a:r>
              <a:rPr sz="1500" b="1" a:altLang="en-US">
                <a:solidFill>
                  <a:srgbClr val="E60012"/>
                </a:solidFill>
                <a:latin typeface="微软雅黑"/>
                <a:ea typeface="微软雅黑"/>
              </a:rPr>
              <a:t>● </a:t>
            </a:r>
            <a:r>
              <a:rPr sz="1500" b="0" a:altLang="en-US">
                <a:solidFill>
                  <a:srgbClr val="262A33"/>
                </a:solidFill>
                <a:latin typeface="微软雅黑"/>
                <a:ea typeface="微软雅黑"/>
              </a:rPr>
              <a:t>单信息原则：一条话术只推一个核心信息</a:t>
            </a:r>
          </a:p>
          <a:p>
            <a:pPr>
              <a:spcAft>
                <a:spcPts val="600"/>
              </a:spcAft>
            </a:pPr>
            <a:r>
              <a:rPr sz="1500" b="1" a:altLang="en-US">
                <a:solidFill>
                  <a:srgbClr val="E60012"/>
                </a:solidFill>
                <a:latin typeface="微软雅黑"/>
                <a:ea typeface="微软雅黑"/>
              </a:rPr>
              <a:t>● </a:t>
            </a:r>
            <a:r>
              <a:rPr sz="1500" b="0" a:altLang="en-US">
                <a:solidFill>
                  <a:srgbClr val="262A33"/>
                </a:solidFill>
                <a:latin typeface="微软雅黑"/>
                <a:ea typeface="微软雅黑"/>
              </a:rPr>
              <a:t>来源可溯：素材留链接；关怀类只暖场不硬推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148840"/>
            <a:ext cx="5559552" cy="4251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2148840"/>
            <a:ext cx="5559552" cy="502920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487168"/>
            <a:ext cx="5559552" cy="164592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48840"/>
            <a:ext cx="5212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a:altLang="en-US">
                <a:solidFill>
                  <a:srgbClr val="FFFFFF"/>
                </a:solidFill>
                <a:latin typeface="微软雅黑"/>
                <a:ea typeface="微软雅黑"/>
              </a:rPr>
              <a:t>实样话术（类别①公司好消息）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88920"/>
            <a:ext cx="521208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0" a:altLang="en-US">
                <a:solidFill>
                  <a:srgbClr val="262A33"/>
                </a:solidFill>
                <a:latin typeface="微软雅黑"/>
                <a:ea typeface="微软雅黑"/>
              </a:rPr>
              <a:t>X总早上好，分享个好消息：我们上半年业绩创了新高，还刚入选了年度行业解决方案榜单。其实我们早就不只是卖单品，从员工的终端到机房服务器、再到产线 AI 方案都能接。您这边要是有 IT 或研发设备的规划，随时喊我帮您把方案捋一捋。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altLang="en-US">
                <a:solidFill>
                  <a:srgbClr val="6B7078"/>
                </a:solidFill>
                <a:latin typeface="微软雅黑"/>
                <a:ea typeface="微软雅黑"/>
              </a:rPr>
              <a:t>承接动作：客户表示「在看 / 在规划」→ 约需求盘点，问清岗位、软件、负载。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a:altLang="en-US">
                <a:solidFill>
                  <a:srgbClr val="6B7078"/>
                </a:solidFill>
                <a:latin typeface="微软雅黑"/>
                <a:ea typeface="微软雅黑"/>
              </a:rPr>
              <a:t>企微每周话题话术引擎 · 部门周会汇报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73952"/>
            <a:ext cx="10972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a:altLang="en-US">
                <a:solidFill>
                  <a:srgbClr val="6B7078"/>
                </a:solidFill>
                <a:latin typeface="微软雅黑"/>
                <a:ea typeface="微软雅黑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a:altLang="en-US">
                <a:solidFill>
                  <a:srgbClr val="FFFFFF"/>
                </a:solidFill>
                <a:latin typeface="微软雅黑"/>
                <a:ea typeface="微软雅黑"/>
              </a:rPr>
              <a:t>本周话题包示例 · 直接复制发企微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altLang="en-US">
                <a:solidFill>
                  <a:srgbClr val="FFFFFF"/>
                </a:solidFill>
                <a:latin typeface="微软雅黑"/>
                <a:ea typeface="微软雅黑"/>
              </a:rPr>
              <a:t>实样 Demo + 怎么跑起来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3657600" cy="3794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3657600" cy="502920"/>
          </a:xfrm>
          <a:prstGeom prst="roundRect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45336"/>
            <a:ext cx="3657600" cy="164592"/>
          </a:xfrm>
          <a:prstGeom prst="rect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34747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a:altLang="en-US">
                <a:solidFill>
                  <a:srgbClr val="FFFFFF"/>
                </a:solidFill>
                <a:latin typeface="微软雅黑"/>
                <a:ea typeface="微软雅黑"/>
              </a:rPr>
              <a:t>① 政策补贴 / 以旧换新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2918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a:altLang="en-US">
                <a:solidFill>
                  <a:srgbClr val="262A33"/>
                </a:solidFill>
                <a:latin typeface="微软雅黑"/>
                <a:ea typeface="微软雅黑"/>
              </a:rPr>
              <a:t>2026「两新」政策落地，数码及智能产品购新补贴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61488"/>
            <a:ext cx="3291840" cy="1783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1089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a:altLang="en-US">
                <a:solidFill>
                  <a:srgbClr val="262A33"/>
                </a:solidFill>
                <a:latin typeface="微软雅黑"/>
                <a:ea typeface="微软雅黑"/>
              </a:rPr>
              <a:t>X总好，今年国家「两新」政策力度不小——大规模设备更新 + 数码和智能产品购新补贴都在推，中小企业申报门槛还降了。您那边要是有用了好几年的老旧电脑或工作站，正好顺着这波批量换掉。我帮您粗算旧机折抵加政策能省多少，您看要不要？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08576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altLang="en-US">
                <a:solidFill>
                  <a:srgbClr val="6B7078"/>
                </a:solidFill>
                <a:latin typeface="微软雅黑"/>
                <a:ea typeface="微软雅黑"/>
              </a:rPr>
              <a:t>承接：客户有意向 → 盘点在用老旧设备，做换新 + 订阅式服务两套方案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5676" y="1207008"/>
            <a:ext cx="3657600" cy="3794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65676" y="1207008"/>
            <a:ext cx="3657600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5676" y="1545336"/>
            <a:ext cx="3657600" cy="16459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7116" y="1207008"/>
            <a:ext cx="34747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a:altLang="en-US">
                <a:solidFill>
                  <a:srgbClr val="FFFFFF"/>
                </a:solidFill>
                <a:latin typeface="微软雅黑"/>
                <a:ea typeface="微软雅黑"/>
              </a:rPr>
              <a:t>② AI / 算力热点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556" y="1828800"/>
            <a:ext cx="32918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a:altLang="en-US">
                <a:solidFill>
                  <a:srgbClr val="262A33"/>
                </a:solidFill>
                <a:latin typeface="微软雅黑"/>
                <a:ea typeface="微软雅黑"/>
              </a:rPr>
              <a:t>新款 AI 工作站，本地跑 32B 大模型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8556" y="2761488"/>
            <a:ext cx="3291840" cy="1783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9996" y="2834640"/>
            <a:ext cx="31089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a:altLang="en-US">
                <a:solidFill>
                  <a:srgbClr val="262A33"/>
                </a:solidFill>
                <a:latin typeface="微软雅黑"/>
                <a:ea typeface="微软雅黑"/>
              </a:rPr>
              <a:t>X总好，现在 AI 这么火，制造业先落地的往往是研发端。我们刚上市新款 AI 工作站，本地就能稳跑 32B 大模型，做仿真、建模、AI 开发都不用挤云上、数据也不出厂。您们研发跑大型图纸或仿真现在扛得住吗？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8556" y="4608576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altLang="en-US">
                <a:solidFill>
                  <a:srgbClr val="6B7078"/>
                </a:solidFill>
                <a:latin typeface="微软雅黑"/>
                <a:ea typeface="微软雅黑"/>
              </a:rPr>
              <a:t>承接：客户吐槽卡 / 崩 → 索取软件清单与负载，出配置建议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1207008"/>
            <a:ext cx="3657600" cy="3794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74152" y="1207008"/>
            <a:ext cx="3657600" cy="502920"/>
          </a:xfrm>
          <a:prstGeom prst="round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4152" y="1545336"/>
            <a:ext cx="3657600" cy="164592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1207008"/>
            <a:ext cx="34747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a:altLang="en-US">
                <a:solidFill>
                  <a:srgbClr val="FFFFFF"/>
                </a:solidFill>
                <a:latin typeface="微软雅黑"/>
                <a:ea typeface="微软雅黑"/>
              </a:rPr>
              <a:t>③ 节气关怀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1828800"/>
            <a:ext cx="32918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a:altLang="en-US">
                <a:solidFill>
                  <a:srgbClr val="262A33"/>
                </a:solidFill>
                <a:latin typeface="微软雅黑"/>
                <a:ea typeface="微软雅黑"/>
              </a:rPr>
              <a:t>大暑时节，高温关怀（纯暖场，不推产品）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2" y="2761488"/>
            <a:ext cx="3291840" cy="1783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2834640"/>
            <a:ext cx="31089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a:altLang="en-US">
                <a:solidFill>
                  <a:srgbClr val="262A33"/>
                </a:solidFill>
                <a:latin typeface="微软雅黑"/>
                <a:ea typeface="微软雅黑"/>
              </a:rPr>
              <a:t>X总，大暑了，这两天是真晒。车间和现场注意通风降温，提醒大家多喝水别中暑，周末也记得歇歇。有需要随时招呼我，不打扰您了。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4608576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altLang="en-US">
                <a:solidFill>
                  <a:srgbClr val="6B7078"/>
                </a:solidFill>
                <a:latin typeface="微软雅黑"/>
                <a:ea typeface="微软雅黑"/>
              </a:rPr>
              <a:t>承接：本条不推销，回暖回应即达目的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11274552" cy="1097280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85232"/>
            <a:ext cx="1097280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a:altLang="en-US">
                <a:solidFill>
                  <a:srgbClr val="FFFFFF"/>
                </a:solidFill>
                <a:latin typeface="微软雅黑"/>
                <a:ea typeface="微软雅黑"/>
              </a:rPr>
              <a:t>落地 SOP（每周一 09:00 自动产出，销售只复制粘贴）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87568"/>
            <a:ext cx="1097280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a:altLang="en-US">
                <a:solidFill>
                  <a:srgbClr val="FFFFFF"/>
                </a:solidFill>
                <a:latin typeface="微软雅黑"/>
                <a:ea typeface="微软雅黑"/>
              </a:rPr>
              <a:t>① 引擎自动产 5 条话题卡　→　② 挑合适话题发对应客户　→　③ 换真实称呼发企微　→　④ 按承接动作接住别断在暖场　→　⑤ 月底统计回复率迭代话术库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a:altLang="en-US">
                <a:solidFill>
                  <a:srgbClr val="6B7078"/>
                </a:solidFill>
                <a:latin typeface="微软雅黑"/>
                <a:ea typeface="微软雅黑"/>
              </a:rPr>
              <a:t>企微每周话题话术引擎 · 部门周会汇报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73952"/>
            <a:ext cx="10972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a:altLang="en-US">
                <a:solidFill>
                  <a:srgbClr val="6B7078"/>
                </a:solidFill>
                <a:latin typeface="微软雅黑"/>
                <a:ea typeface="微软雅黑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